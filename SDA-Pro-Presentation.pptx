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9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6158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6253A"/>
          </a:solidFill>
          <a:ln w="12700">
            <a:solidFill>
              <a:srgbClr val="1625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64008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SDA-Pro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Incident Response &amp;</a:t>
            </a:r>
            <a:endParaRPr lang="en-US" sz="2200" dirty="0"/>
          </a:p>
          <a:p>
            <a:pPr marL="0" indent="0" algn="l">
              <a:buNone/>
            </a:pPr>
            <a:r>
              <a:rPr lang="en-US" sz="22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Mitigation Platform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8046720" cy="0"/>
          </a:xfrm>
          <a:prstGeom prst="line">
            <a:avLst/>
          </a:prstGeom>
          <a:noFill/>
          <a:ln w="1905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Design &amp; Architecture — Semester Project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 (54481)     |     Malik Hamza Shahid  (54523)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Submission: 3</a:t>
            </a:r>
            <a:r>
              <a:rPr lang="en-US" sz="1300" baseline="30000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</a:t>
            </a:r>
            <a:r>
              <a:rPr lang="en-US" sz="1300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91440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Executive Summary &amp; Domain Problem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System Architecture (SOA, MVC, Layered, Event-Driven)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All 12 Design Patterns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End-to-End System Flow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Architecture Decision Records (ADRs)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Live Demo Output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Acceptance Criteria Checklist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Conclusion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SDA-Pro?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— SDA-Pro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 SOC (Security Operations Center) platform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Automates threat alert triage &amp; response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Demonstrates all 12 GoF design patterns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Implements 4 architecture styles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MTTD and MTTR significantly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914400"/>
            <a:ext cx="201168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960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Patterns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2286000"/>
            <a:ext cx="201168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0" y="2331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57200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Styles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3657600"/>
            <a:ext cx="201168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0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Sources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914400"/>
            <a:ext cx="201168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66560" y="960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76656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States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2286000"/>
            <a:ext cx="201168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766560" y="23317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A8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76656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Actions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Styles Working Together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Architecture Styles in SDA-Pro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73152" cy="1691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051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4630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autonomous service packages with defined contracts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73152" cy="1691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0515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14630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Dashboard: Controllers / Models / Views separation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6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73152" cy="1691640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-&gt; Service -&gt; Domain within every service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2F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834640"/>
            <a:ext cx="73152" cy="1691640"/>
          </a:xfrm>
          <a:prstGeom prst="rect">
            <a:avLst/>
          </a:prstGeom>
          <a:solidFill>
            <a:srgbClr val="8B2FC9"/>
          </a:solidFill>
          <a:ln w="12700">
            <a:solidFill>
              <a:srgbClr val="8B2F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926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2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Event-Driven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892040" y="33375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EventBusPublisher + 4 Observer subscribers; decoupled updates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 Service Map — 8 Services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9966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Ingestion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+ Factory Method + Singleton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96596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0025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 &amp; Correlation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3500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Factory + Chain of Responsibility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97180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30083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3558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Pattern (7 states)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97764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40142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Orchestration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361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 + Strategy + Decorator + Proxy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96012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9966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Intel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46320" y="13441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+ Proxy (Caching + RateLimit + AccessControl)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54880" y="196596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46320" y="200253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23500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Factory (Email + Slack + PagerDuty)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297180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0083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33558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 consumer — immutable logs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3977640"/>
            <a:ext cx="4160520" cy="86868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46320" y="401421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Dashboard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4361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MVC — Controllers, Models, Views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 Patterns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Gang-of-Four Patterns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Design Patterns — Overview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83464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4320" y="1508760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563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Singleton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075688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130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Method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2642616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Factory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960120"/>
            <a:ext cx="2834640" cy="4572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461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246120" y="1508760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1563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46120" y="2075688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337560" y="2130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246120" y="2642616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3375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3209544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37560" y="32644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46120" y="3776472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38313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960120"/>
            <a:ext cx="2834640" cy="457200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17920" y="1508760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09360" y="1563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217920" y="2075688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309360" y="2130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Resp.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17920" y="2642616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093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3209544"/>
            <a:ext cx="2834640" cy="475488"/>
          </a:xfrm>
          <a:prstGeom prst="rect">
            <a:avLst/>
          </a:prstGeom>
          <a:solidFill>
            <a:srgbClr val="F0F4F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09360" y="32644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Creational Patterns — Deep Dive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123444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73152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Singleton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14600" y="1005840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IngestionConfigManager, ThreatIntelCache, EventBusPublisher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43560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config, cache, event coordinator — prevents duplicate instances and inconsistent state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8595360" cy="123444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331720"/>
            <a:ext cx="73152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Method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514600" y="2377440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AlertNormalizerFactory, ResponseActionFactory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80720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alert sources produce different formats; factory selects the right normalizer without client knowing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4320" y="3703320"/>
            <a:ext cx="8595360" cy="1234440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703320"/>
            <a:ext cx="73152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Factory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14600" y="3749040"/>
            <a:ext cx="6217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EnrichmentProviderFactory, PremiumEnrichmentFactory, StandardEnrichmentFactory, NotificationFactory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7880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families of enrichment handlers (GeoIP+ThreatIntel+Asset) or notifiers (Email+Slack+PagerDuty) as a unit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Patterns — Deep Dive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73152" cy="7498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996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99669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AlertComponent, SingleAlert, AlertCampaign, IncidentCluster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258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single alerts and multi-alert campaigns uniformly — enables enrichment and response on both without type checks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1801368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801368"/>
            <a:ext cx="73152" cy="7498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1837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183794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IncidentResponseFacade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16712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Hides complex coordination of strategy+factory+decorator+proxy+events behind one assessAndRespond() call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642616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2642616"/>
            <a:ext cx="73152" cy="7498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679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26791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SplunkAdapter, FirewallAdapter, CrowdStrikeAdapter, VirusTotalAdapter, MISPAdapter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00837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adapters convert 5 incompatible external APIs into SDA-Pro canonical interfaces without changing core logic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74320" y="3483864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3483864"/>
            <a:ext cx="73152" cy="7498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4560" y="3520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AuditLogDecorator, ApprovalGateDecorator, RollbackDecorator, MetricsDecorator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3849624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audit/approval/rollback/metrics to response actions dynamically — chained at runtime without subclassing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74320" y="4325112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4325112"/>
            <a:ext cx="73152" cy="7498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361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194560" y="436168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CachingThreatIntelProxy, RateLimitThreatIntelProxy, AccessControlThreatIntelProxy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69087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expensive API calls, enforce rate limits, validate roles — all transparent to the action/handler client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Patterns — Deep Dive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941832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73152" cy="941832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005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23160" y="10058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NewState, UnderTriageState, ContainmentState, EradicationState, RecoveryState, PostIncidentReviewState, ClosedState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99032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state classes encapsulate state-specific behavior and enforce only legal incident lifecycle transitions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93392"/>
            <a:ext cx="8595360" cy="941832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993392"/>
            <a:ext cx="73152" cy="941832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0391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Resp.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23160" y="203911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DeduplicationHandler, GeoIPHandler, ThreatIntelHandler, AssetContextHandler, ClassificationHandler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432304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enrichment stages chained at runtime — each handler processes and passes to next; pipeline is configurable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3026664"/>
            <a:ext cx="8595360" cy="941832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026664"/>
            <a:ext cx="73152" cy="941832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0723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307238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EventBusPublisher, DashboardUpdater, AuditLogger, NotificationDispatcher, MetricsCollector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465576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EventBus publishes domain events; 4 observers react without publisher knowing them — true loose coupling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8595360" cy="941832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4059936"/>
            <a:ext cx="73152" cy="941832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1056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423160" y="41056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AggressiveContainmentStrategy, BalancedStrategy, ConservativeStrategy, WatchAndWaitStrategy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498848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algorithm selected at runtime by severity: CRITICAL=Aggressive, HIGH=Balanced, MEDIUM=Conservative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End-to-End Flow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Alert to Closed Incident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Flow — 6 Steps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457200" cy="1234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92608" y="13075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10149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Ingestion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1472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+ Factory Method + Singleton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2331720"/>
            <a:ext cx="457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" y="26791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23865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Grouping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28437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Pattern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7033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6B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703320"/>
            <a:ext cx="457200" cy="1234440"/>
          </a:xfrm>
          <a:prstGeom prst="rect">
            <a:avLst/>
          </a:prstGeom>
          <a:solidFill>
            <a:srgbClr val="1E6B3A"/>
          </a:solidFill>
          <a:ln w="12700">
            <a:solidFill>
              <a:srgbClr val="1E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92608" y="40507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2960" y="37581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6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 Pipeline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2153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Factory + Chain of Resp. + Proxy + Adapter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46320" y="9601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2F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46320" y="960120"/>
            <a:ext cx="457200" cy="1234440"/>
          </a:xfrm>
          <a:prstGeom prst="rect">
            <a:avLst/>
          </a:prstGeom>
          <a:solidFill>
            <a:srgbClr val="8B2FC9"/>
          </a:solidFill>
          <a:ln w="12700">
            <a:solidFill>
              <a:srgbClr val="8B2F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64608" y="13075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394960" y="10149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2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Lifecycle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94960" y="1472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Pattern (7 states)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23317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846320" y="2331720"/>
            <a:ext cx="457200" cy="1234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64608" y="26791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394960" y="23865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Orchestration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94960" y="28437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 + Strategy + Decorator + Proxy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846320" y="370332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020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846320" y="3703320"/>
            <a:ext cx="457200" cy="1234440"/>
          </a:xfrm>
          <a:prstGeom prst="rect">
            <a:avLst/>
          </a:prstGeom>
          <a:solidFill>
            <a:srgbClr val="C02020"/>
          </a:solidFill>
          <a:ln w="12700">
            <a:solidFill>
              <a:srgbClr val="C020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64608" y="4050792"/>
            <a:ext cx="420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394960" y="375818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 &amp; Dashboard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94960" y="42153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 + MVC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Decision Records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Key Decisions Documented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Decision Records (ADRs)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9144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25880" y="9966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 vs Microservices vs Modular Monolith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13624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SOA in one codebase — clear service boundaries without full microservices overhead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1801368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801368"/>
            <a:ext cx="9144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984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183794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Synchronous vs Asynchronous Communication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22037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Hybrid: sync for core flow, async EventBus for dashboard/audit/notification side effects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4320" y="2642616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2642616"/>
            <a:ext cx="9144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8254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25880" y="26791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Strategy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30449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for prototype; PostgreSQL (incidents/audit) + Redis (cache/sessions) for production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74320" y="3483864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3483864"/>
            <a:ext cx="9144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74320" y="366674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25880" y="35204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Intel Caching Strategy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38862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Proxy Pattern: CachingProxy + RateLimitProxy + AccessControlProxy chain before adapters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74320" y="4325112"/>
            <a:ext cx="8595360" cy="749808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4325112"/>
            <a:ext cx="914400" cy="74980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45079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ADR-005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25880" y="436168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Push Strategy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25880" y="47274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Observer-based in-memory event bus; maps to WebSockets/SSE + RabbitMQ/Kafka in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Output — MainDemo.java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D554D27-208B-AC3D-FAA1-0A27EABE0D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891096"/>
            <a:ext cx="5669280" cy="37677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2880" y="4773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B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SDA-Pro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47731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(54481)  |  Malik Hamza Shahid (54523)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Criteria — All PASS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04241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10058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from 2+ sources ingested and normalized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0" y="1005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sources (Splunk + Firewall + CrowdStrike)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453896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4320" y="1453896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5361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" y="14996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Responsibility — min. 3 handlers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149961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handlers implemented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1947672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1947672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0299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04672" y="1993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grouping into Campaigns / Clusters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3504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AlertCampaign + IncidentCluster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441448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2441448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74320" y="2523744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4672" y="24871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through all 6 states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035040" y="248716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state classes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2935224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2935224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3017520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4672" y="298094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2 response strategies executable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035040" y="298094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strategies (Aggressive/Balanced/Conservative/Watch)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3429000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3429000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74320" y="351129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04672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threat intel adapters via Proxy + Adapter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035040" y="34747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VirusTotal + MISP behind 3 proxy variants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" y="3922776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74320" y="3922776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74320" y="400507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4672" y="3968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patterns annotated // PATTERN: Name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035040" y="39684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annotations across 96 Java files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4320" y="4416552"/>
            <a:ext cx="859536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D0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74320" y="4416552"/>
            <a:ext cx="420624" cy="42062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74320" y="449884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4672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 architecture styles documented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035040" y="44622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 + ADRs + directory evidence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0A8E8"/>
          </a:solidFill>
          <a:ln w="1270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6253A"/>
          </a:solidFill>
          <a:ln w="12700">
            <a:solidFill>
              <a:srgbClr val="1625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8046720" cy="0"/>
          </a:xfrm>
          <a:prstGeom prst="line">
            <a:avLst/>
          </a:prstGeom>
          <a:noFill/>
          <a:ln w="19050">
            <a:solidFill>
              <a:srgbClr val="00A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12 GoF design patterns implemented naturally from domain requirements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 architecture styles applied with full documentation and evidence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pipeline: Alert ingestion -&gt; Enrichment -&gt; Incident -&gt; Response -&gt; Audit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annotated source code (96 Java files, 35 pattern annotations)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D0E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docs: UML diagrams, 5 ADRs, API contracts, demo output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Hassan Zahid  (54481)  |  Malik Hamza Shahid  (54523)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1161</Words>
  <Application>Microsoft Office PowerPoint</Application>
  <PresentationFormat>On-screen Show (16:9)</PresentationFormat>
  <Paragraphs>234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Arial Black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SDA-Pro — Security Incident Response &amp; Threat Mitigation Platform</dc:title>
  <dc:subject>PptxGenJS Presentation</dc:subject>
  <dc:creator>Hassan Zahid | Malik Hamza Shahid</dc:creator>
  <cp:lastModifiedBy>HP</cp:lastModifiedBy>
  <cp:revision>3</cp:revision>
  <dcterms:created xsi:type="dcterms:W3CDTF">2026-05-31T17:07:35Z</dcterms:created>
  <dcterms:modified xsi:type="dcterms:W3CDTF">2026-06-01T12:20:53Z</dcterms:modified>
</cp:coreProperties>
</file>